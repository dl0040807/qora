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4"/>
  </p:normalViewPr>
  <p:slideViewPr>
    <p:cSldViewPr snapToGrid="0">
      <p:cViewPr varScale="1">
        <p:scale>
          <a:sx n="105" d="100"/>
          <a:sy n="105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slide. Team intro goes here. Built for IBM Bob Hackathon Theme 2: Transform an Existing App.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team. Explain that the original Gogo was a contact recommender built on Kakao. The entire concept, DB schema, AI prompts, and UI were rebuilt from scratch.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problem has two layers: (1) a structural empathy decline in young people driven by social media displacement, and (2) a specific infrastructure gap — most personal concerns are too heavy to carry alone but not severe enough for therapy.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two-sided mechanic is critical. Askers get structured wisdom. Answerers practice empathy by engaging with a real stranger's concern. Both sides benefit.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5-step flow. Emphasise step 5 — the synthesis is what separates Gogo from a forum or chatbot. It shows the asker the distribution of human perspectives on their situation.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Bob's structured tool-use API was essential. Free-form text responses would have made the UI fragile. Forced tool_choice gives guaranteed typed JSON shapes that the UI can depend 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Theme 2 story. Every user-facing flow, all DB tables, all AI prompts, and all API routes were rebuilt. The infrastructure (Next.js, Supabase, Anthropic SDK) was retained and repurposed.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roadmap is prioritised by impact. Real-time updates and notifications address the biggest friction point — the asker doesn't know when to come back. The EQ tracking feature is the long-term vision.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slide. Leave time for Q&amp;A.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ag"/>
          <p:cNvSpPr txBox="1"/>
          <p:nvPr/>
        </p:nvSpPr>
        <p:spPr>
          <a:xfrm>
            <a:off x="1080000" y="1440000"/>
            <a:ext cx="972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 b="1">
                <a:solidFill>
                  <a:srgbClr val="7B8CDE"/>
                </a:solidFill>
              </a:rPr>
              <a:t>IBM BOB HACKATHON · THEME 2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1080000" y="1980000"/>
            <a:ext cx="9720000" cy="12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고고 (Gogo)</a:t>
            </a:r>
          </a:p>
        </p:txBody>
      </p:sp>
      <p:sp>
        <p:nvSpPr>
          <p:cNvPr id="100002" name="Tagline"/>
          <p:cNvSpPr txBox="1"/>
          <p:nvPr/>
        </p:nvSpPr>
        <p:spPr>
          <a:xfrm>
            <a:off x="1080000" y="3420000"/>
            <a:ext cx="9720000" cy="64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 b="0">
                <a:solidFill>
                  <a:srgbClr val="A0A8D0"/>
                </a:solidFill>
              </a:rPr>
              <a:t>Your concern, heard by strangers. Understood by AI.</a:t>
            </a:r>
          </a:p>
        </p:txBody>
      </p:sp>
      <p:sp>
        <p:nvSpPr>
          <p:cNvPr id="100003" name="Sub"/>
          <p:cNvSpPr txBox="1"/>
          <p:nvPr/>
        </p:nvSpPr>
        <p:spPr>
          <a:xfrm>
            <a:off x="1080000" y="4320000"/>
            <a:ext cx="9720000" cy="432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400" b="0">
                <a:solidFill>
                  <a:srgbClr val="6B7280"/>
                </a:solidFill>
              </a:rPr>
              <a:t>Anonymous concern-sharing · AI perspective synthesis · Zero account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01 · TEAM &amp; PROJECT</a:t>
            </a:r>
          </a:p>
        </p:txBody>
      </p:sp>
      <p:sp>
        <p:nvSpPr>
          <p:cNvPr id="100005" name="Title"/>
          <p:cNvSpPr txBox="1"/>
          <p:nvPr/>
        </p:nvSpPr>
        <p:spPr>
          <a:xfrm>
            <a:off x="720000" y="792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A1A2E"/>
                </a:solidFill>
              </a:rPr>
              <a:t>What We Built</a:t>
            </a:r>
          </a:p>
        </p:txBody>
      </p:sp>
      <p:sp>
        <p:nvSpPr>
          <p:cNvPr id="100006" name="Desc"/>
          <p:cNvSpPr txBox="1"/>
          <p:nvPr/>
        </p:nvSpPr>
        <p:spPr>
          <a:xfrm>
            <a:off x="720000" y="1728000"/>
            <a:ext cx="648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 dirty="0">
                <a:solidFill>
                  <a:srgbClr val="374151"/>
                </a:solidFill>
              </a:rPr>
              <a:t>An anonymous two-sided platform where real people answer each other's personal concerns — and Claude AI </a:t>
            </a:r>
            <a:r>
              <a:rPr lang="en-US" sz="1700" dirty="0" err="1">
                <a:solidFill>
                  <a:srgbClr val="374151"/>
                </a:solidFill>
              </a:rPr>
              <a:t>synthesises</a:t>
            </a:r>
            <a:r>
              <a:rPr lang="en-US" sz="1700" dirty="0">
                <a:solidFill>
                  <a:srgbClr val="374151"/>
                </a:solidFill>
              </a:rPr>
              <a:t> all responses into a structured perspective breakdown with percentage weights.</a:t>
            </a:r>
          </a:p>
          <a:p>
            <a:endParaRPr lang="en-US" sz="1700" dirty="0">
              <a:solidFill>
                <a:srgbClr val="374151"/>
              </a:solidFill>
            </a:endParaRPr>
          </a:p>
          <a:p>
            <a:r>
              <a:rPr lang="en-US" sz="1700" dirty="0">
                <a:solidFill>
                  <a:srgbClr val="374151"/>
                </a:solidFill>
              </a:rPr>
              <a:t>Built on: </a:t>
            </a:r>
            <a:r>
              <a:rPr lang="en-US" sz="1700" dirty="0" err="1">
                <a:solidFill>
                  <a:srgbClr val="374151"/>
                </a:solidFill>
              </a:rPr>
              <a:t>Next.js</a:t>
            </a:r>
            <a:r>
              <a:rPr lang="en-US" sz="1700" dirty="0">
                <a:solidFill>
                  <a:srgbClr val="374151"/>
                </a:solidFill>
              </a:rPr>
              <a:t> 16 · </a:t>
            </a:r>
            <a:r>
              <a:rPr lang="en-US" sz="1700" dirty="0" err="1">
                <a:solidFill>
                  <a:srgbClr val="374151"/>
                </a:solidFill>
              </a:rPr>
              <a:t>Supabase</a:t>
            </a:r>
            <a:r>
              <a:rPr lang="en-US" sz="1700" dirty="0">
                <a:solidFill>
                  <a:srgbClr val="374151"/>
                </a:solidFill>
              </a:rPr>
              <a:t> · Anthropic Claude Sonnet · </a:t>
            </a:r>
            <a:r>
              <a:rPr lang="en-US" sz="1700" dirty="0" err="1">
                <a:solidFill>
                  <a:srgbClr val="374151"/>
                </a:solidFill>
              </a:rPr>
              <a:t>Vercel</a:t>
            </a:r>
            <a:endParaRPr lang="en-US" sz="1700" dirty="0">
              <a:solidFill>
                <a:srgbClr val="374151"/>
              </a:solidFill>
            </a:endParaRPr>
          </a:p>
        </p:txBody>
      </p:sp>
      <p:sp>
        <p:nvSpPr>
          <p:cNvPr id="100007" name="Card"/>
          <p:cNvSpPr txBox="1"/>
          <p:nvPr/>
        </p:nvSpPr>
        <p:spPr>
          <a:xfrm>
            <a:off x="7872000" y="1728000"/>
            <a:ext cx="3600000" cy="252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1400" b="0" dirty="0">
                <a:solidFill>
                  <a:srgbClr val="FFFFFF"/>
                </a:solidFill>
              </a:rPr>
              <a:t>Theme 2</a:t>
            </a:r>
          </a:p>
          <a:p>
            <a:r>
              <a:rPr lang="en-US" sz="1400" b="0" dirty="0">
                <a:solidFill>
                  <a:srgbClr val="FFFFFF"/>
                </a:solidFill>
              </a:rPr>
              <a:t>Transform an Existing App</a:t>
            </a:r>
          </a:p>
          <a:p>
            <a:endParaRPr lang="en-US" sz="1400" b="0" dirty="0">
              <a:solidFill>
                <a:srgbClr val="FFFFFF"/>
              </a:solidFill>
            </a:endParaRPr>
          </a:p>
          <a:p>
            <a:r>
              <a:rPr lang="en-US" sz="1400" b="0" dirty="0">
                <a:solidFill>
                  <a:srgbClr val="FFFFFF"/>
                </a:solidFill>
              </a:rPr>
              <a:t>Original app: Contact recommender (Kakao social graph)</a:t>
            </a:r>
          </a:p>
          <a:p>
            <a:r>
              <a:rPr lang="en-US" sz="1400" b="0" dirty="0">
                <a:solidFill>
                  <a:srgbClr val="FFFFFF"/>
                </a:solidFill>
              </a:rPr>
              <a:t>Transformed into: Anonymous collective wisdom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02 · THE PROBLEM</a:t>
            </a:r>
          </a:p>
        </p:txBody>
      </p:sp>
      <p:sp>
        <p:nvSpPr>
          <p:cNvPr id="100009" name="Title"/>
          <p:cNvSpPr txBox="1"/>
          <p:nvPr/>
        </p:nvSpPr>
        <p:spPr>
          <a:xfrm>
            <a:off x="720000" y="792000"/>
            <a:ext cx="1044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Young People Are Losing the Ability to Understand Each Other</a:t>
            </a:r>
          </a:p>
        </p:txBody>
      </p:sp>
      <p:sp>
        <p:nvSpPr>
          <p:cNvPr id="100010" name="Stat1"/>
          <p:cNvSpPr txBox="1"/>
          <p:nvPr/>
        </p:nvSpPr>
        <p:spPr>
          <a:xfrm>
            <a:off x="720000" y="1872000"/>
            <a:ext cx="1044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dirty="0">
                <a:solidFill>
                  <a:srgbClr val="D1D5DB"/>
                </a:solidFill>
              </a:rPr>
              <a:t>📉  Cognitive empathy in adults under 35 has declined significantly</a:t>
            </a:r>
          </a:p>
          <a:p>
            <a:r>
              <a:rPr lang="en-US" sz="1500" dirty="0">
                <a:solidFill>
                  <a:srgbClr val="D1D5DB"/>
                </a:solidFill>
              </a:rPr>
              <a:t>— Lim &amp; Hyun, Current Psychology 2023 (meta-analysis of 114 studies)</a:t>
            </a:r>
          </a:p>
        </p:txBody>
      </p:sp>
      <p:sp>
        <p:nvSpPr>
          <p:cNvPr id="100011" name="Stat2"/>
          <p:cNvSpPr txBox="1"/>
          <p:nvPr/>
        </p:nvSpPr>
        <p:spPr>
          <a:xfrm>
            <a:off x="720000" y="2628000"/>
            <a:ext cx="1044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dirty="0">
                <a:solidFill>
                  <a:srgbClr val="D1D5DB"/>
                </a:solidFill>
              </a:rPr>
              <a:t>📱  Passive social media use decreases perspective-taking over time</a:t>
            </a:r>
          </a:p>
          <a:p>
            <a:r>
              <a:rPr lang="en-US" sz="1500" dirty="0">
                <a:solidFill>
                  <a:srgbClr val="D1D5DB"/>
                </a:solidFill>
              </a:rPr>
              <a:t>— Vossen &amp; Valkenburg, Computers in Human Behavior 2016</a:t>
            </a:r>
          </a:p>
        </p:txBody>
      </p:sp>
      <p:sp>
        <p:nvSpPr>
          <p:cNvPr id="100012" name="Stat3"/>
          <p:cNvSpPr txBox="1"/>
          <p:nvPr/>
        </p:nvSpPr>
        <p:spPr>
          <a:xfrm>
            <a:off x="720000" y="3384000"/>
            <a:ext cx="1044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dirty="0">
                <a:solidFill>
                  <a:srgbClr val="D1D5DB"/>
                </a:solidFill>
              </a:rPr>
              <a:t>🇰🇷  42% of Korean adults aged 19–34 have ZERO people to confide in</a:t>
            </a:r>
          </a:p>
          <a:p>
            <a:r>
              <a:rPr lang="en-US" sz="1500" dirty="0">
                <a:solidFill>
                  <a:srgbClr val="D1D5DB"/>
                </a:solidFill>
              </a:rPr>
              <a:t>— Korean Youth Policy Institute (NYPI), 2022</a:t>
            </a:r>
          </a:p>
        </p:txBody>
      </p:sp>
      <p:sp>
        <p:nvSpPr>
          <p:cNvPr id="100013" name="Stat4"/>
          <p:cNvSpPr txBox="1"/>
          <p:nvPr/>
        </p:nvSpPr>
        <p:spPr>
          <a:xfrm>
            <a:off x="720000" y="4140000"/>
            <a:ext cx="10440000" cy="64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dirty="0">
                <a:solidFill>
                  <a:srgbClr val="D1D5DB"/>
                </a:solidFill>
              </a:rPr>
              <a:t>😶  Gen Z is the loneliest generation ever recorded — despite being the most connected</a:t>
            </a:r>
          </a:p>
          <a:p>
            <a:r>
              <a:rPr lang="en-US" sz="1500" dirty="0">
                <a:solidFill>
                  <a:srgbClr val="D1D5DB"/>
                </a:solidFill>
              </a:rPr>
              <a:t>— Cigna Loneliness Index, 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03 · THE SOLUTION</a:t>
            </a:r>
          </a:p>
        </p:txBody>
      </p:sp>
      <p:sp>
        <p:nvSpPr>
          <p:cNvPr id="100015" name="Title"/>
          <p:cNvSpPr txBox="1"/>
          <p:nvPr/>
        </p:nvSpPr>
        <p:spPr>
          <a:xfrm>
            <a:off x="720000" y="792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A1A2E"/>
                </a:solidFill>
              </a:rPr>
              <a:t>Gogo: A Two-Sided Empathy Platform</a:t>
            </a:r>
          </a:p>
        </p:txBody>
      </p:sp>
      <p:sp>
        <p:nvSpPr>
          <p:cNvPr id="100016" name="AskerCard"/>
          <p:cNvSpPr txBox="1"/>
          <p:nvPr/>
        </p:nvSpPr>
        <p:spPr>
          <a:xfrm>
            <a:off x="720000" y="1800000"/>
            <a:ext cx="4860000" cy="288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1600" b="0" dirty="0" err="1">
                <a:solidFill>
                  <a:srgbClr val="FFFFFF"/>
                </a:solidFill>
              </a:rPr>
              <a:t>고민</a:t>
            </a:r>
            <a:r>
              <a:rPr lang="en-US" sz="1600" b="0" dirty="0">
                <a:solidFill>
                  <a:srgbClr val="FFFFFF"/>
                </a:solidFill>
              </a:rPr>
              <a:t> </a:t>
            </a:r>
            <a:r>
              <a:rPr lang="en-US" sz="1600" b="0" dirty="0" err="1">
                <a:solidFill>
                  <a:srgbClr val="FFFFFF"/>
                </a:solidFill>
              </a:rPr>
              <a:t>있어요</a:t>
            </a:r>
            <a:endParaRPr lang="en-US" sz="1600" b="0" dirty="0">
              <a:solidFill>
                <a:srgbClr val="FFFFFF"/>
              </a:solidFill>
            </a:endParaRPr>
          </a:p>
          <a:p>
            <a:r>
              <a:rPr lang="en-US" sz="1600" b="0" dirty="0">
                <a:solidFill>
                  <a:srgbClr val="FFFFFF"/>
                </a:solidFill>
              </a:rPr>
              <a:t>(I have a concern)</a:t>
            </a:r>
          </a:p>
          <a:p>
            <a:endParaRPr lang="en-US" sz="1600" b="0" dirty="0">
              <a:solidFill>
                <a:srgbClr val="FFFFFF"/>
              </a:solidFill>
            </a:endParaRPr>
          </a:p>
          <a:p>
            <a:r>
              <a:rPr lang="en-US" sz="1600" b="0" dirty="0">
                <a:solidFill>
                  <a:srgbClr val="FFFFFF"/>
                </a:solidFill>
              </a:rPr>
              <a:t>· Post concern anonymously</a:t>
            </a:r>
          </a:p>
          <a:p>
            <a:r>
              <a:rPr lang="en-US" sz="1600" b="0" dirty="0">
                <a:solidFill>
                  <a:srgbClr val="FFFFFF"/>
                </a:solidFill>
              </a:rPr>
              <a:t>· Share a private link</a:t>
            </a:r>
          </a:p>
          <a:p>
            <a:r>
              <a:rPr lang="en-US" sz="1600" b="0" dirty="0">
                <a:solidFill>
                  <a:srgbClr val="FFFFFF"/>
                </a:solidFill>
              </a:rPr>
              <a:t>· Receive AI-</a:t>
            </a:r>
            <a:r>
              <a:rPr lang="en-US" sz="1600" b="0" dirty="0" err="1">
                <a:solidFill>
                  <a:srgbClr val="FFFFFF"/>
                </a:solidFill>
              </a:rPr>
              <a:t>synthesised</a:t>
            </a:r>
            <a:r>
              <a:rPr lang="en-US" sz="1600" b="0" dirty="0">
                <a:solidFill>
                  <a:srgbClr val="FFFFFF"/>
                </a:solidFill>
              </a:rPr>
              <a:t> perspectives from real strangers</a:t>
            </a:r>
          </a:p>
        </p:txBody>
      </p:sp>
      <p:sp>
        <p:nvSpPr>
          <p:cNvPr id="100017" name="AnswererCard"/>
          <p:cNvSpPr txBox="1"/>
          <p:nvPr/>
        </p:nvSpPr>
        <p:spPr>
          <a:xfrm>
            <a:off x="6120000" y="1800000"/>
            <a:ext cx="4860000" cy="2880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600" b="0" dirty="0" err="1">
                <a:solidFill>
                  <a:srgbClr val="1A1A2E"/>
                </a:solidFill>
              </a:rPr>
              <a:t>답변할게요</a:t>
            </a:r>
            <a:endParaRPr lang="en-US" sz="1600" b="0" dirty="0">
              <a:solidFill>
                <a:srgbClr val="1A1A2E"/>
              </a:solidFill>
            </a:endParaRPr>
          </a:p>
          <a:p>
            <a:r>
              <a:rPr lang="en-US" sz="1600" b="0" dirty="0">
                <a:solidFill>
                  <a:srgbClr val="1A1A2E"/>
                </a:solidFill>
              </a:rPr>
              <a:t>(I'll answer)</a:t>
            </a:r>
          </a:p>
          <a:p>
            <a:endParaRPr lang="en-US" sz="1600" b="0" dirty="0">
              <a:solidFill>
                <a:srgbClr val="1A1A2E"/>
              </a:solidFill>
            </a:endParaRPr>
          </a:p>
          <a:p>
            <a:r>
              <a:rPr lang="en-US" sz="1600" b="0" dirty="0">
                <a:solidFill>
                  <a:srgbClr val="1A1A2E"/>
                </a:solidFill>
              </a:rPr>
              <a:t>· Browse concerns matched to your interests</a:t>
            </a:r>
          </a:p>
          <a:p>
            <a:r>
              <a:rPr lang="en-US" sz="1600" b="0" dirty="0">
                <a:solidFill>
                  <a:srgbClr val="1A1A2E"/>
                </a:solidFill>
              </a:rPr>
              <a:t>· Add optional light profile (age, job, MBTI)</a:t>
            </a:r>
          </a:p>
          <a:p>
            <a:r>
              <a:rPr lang="en-US" sz="1600" b="0" dirty="0">
                <a:solidFill>
                  <a:srgbClr val="1A1A2E"/>
                </a:solidFill>
              </a:rPr>
              <a:t>· Answer anonymously — no account needed</a:t>
            </a:r>
          </a:p>
        </p:txBody>
      </p:sp>
      <p:sp>
        <p:nvSpPr>
          <p:cNvPr id="100018" name="Key"/>
          <p:cNvSpPr txBox="1"/>
          <p:nvPr/>
        </p:nvSpPr>
        <p:spPr>
          <a:xfrm>
            <a:off x="720000" y="4860000"/>
            <a:ext cx="1044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b="1">
                <a:solidFill>
                  <a:srgbClr val="7B8CDE"/>
                </a:solidFill>
              </a:rPr>
              <a:t>Key differentiator: AI groups all answers into 2–5 named perspectives with % weights — not a raw comment thread.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04 · HOW IT WORKS</a:t>
            </a:r>
          </a:p>
        </p:txBody>
      </p:sp>
      <p:sp>
        <p:nvSpPr>
          <p:cNvPr id="100020" name="Title"/>
          <p:cNvSpPr txBox="1"/>
          <p:nvPr/>
        </p:nvSpPr>
        <p:spPr>
          <a:xfrm>
            <a:off x="720000" y="792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FFFFFF"/>
                </a:solidFill>
              </a:rPr>
              <a:t>From Concern to Collective Wisdom</a:t>
            </a:r>
          </a:p>
        </p:txBody>
      </p:sp>
      <p:sp>
        <p:nvSpPr>
          <p:cNvPr id="100021" name="Step1"/>
          <p:cNvSpPr txBox="1"/>
          <p:nvPr/>
        </p:nvSpPr>
        <p:spPr>
          <a:xfrm>
            <a:off x="360000" y="1800000"/>
            <a:ext cx="1980000" cy="18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Asker posts concern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(≤500 chars)</a:t>
            </a:r>
          </a:p>
        </p:txBody>
      </p:sp>
      <p:sp>
        <p:nvSpPr>
          <p:cNvPr id="100022" name="Step2"/>
          <p:cNvSpPr txBox="1"/>
          <p:nvPr/>
        </p:nvSpPr>
        <p:spPr>
          <a:xfrm>
            <a:off x="2520000" y="1800000"/>
            <a:ext cx="1980000" cy="18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pPr algn="ctr"/>
            <a:r>
              <a:rPr lang="en-US" sz="1400" dirty="0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Claude classifies category</a:t>
            </a:r>
          </a:p>
          <a:p>
            <a:pPr algn="ctr"/>
            <a:r>
              <a:rPr lang="en-US" sz="1400" dirty="0">
                <a:solidFill>
                  <a:srgbClr val="FFFFFF"/>
                </a:solidFill>
              </a:rPr>
              <a:t>(</a:t>
            </a:r>
            <a:r>
              <a:rPr lang="en-US" sz="1400" dirty="0" err="1">
                <a:solidFill>
                  <a:srgbClr val="FFFFFF"/>
                </a:solidFill>
              </a:rPr>
              <a:t>연애</a:t>
            </a:r>
            <a:r>
              <a:rPr lang="en-US" sz="1400" dirty="0">
                <a:solidFill>
                  <a:srgbClr val="FFFFFF"/>
                </a:solidFill>
              </a:rPr>
              <a:t> / </a:t>
            </a:r>
            <a:r>
              <a:rPr lang="en-US" sz="1400" dirty="0" err="1">
                <a:solidFill>
                  <a:srgbClr val="FFFFFF"/>
                </a:solidFill>
              </a:rPr>
              <a:t>진로</a:t>
            </a:r>
            <a:r>
              <a:rPr lang="en-US" sz="1400" dirty="0">
                <a:solidFill>
                  <a:srgbClr val="FFFFFF"/>
                </a:solidFill>
              </a:rPr>
              <a:t> / </a:t>
            </a:r>
            <a:r>
              <a:rPr lang="en-US" sz="1400" dirty="0" err="1">
                <a:solidFill>
                  <a:srgbClr val="FFFFFF"/>
                </a:solidFill>
              </a:rPr>
              <a:t>직장</a:t>
            </a:r>
            <a:r>
              <a:rPr lang="en-US" sz="1400" dirty="0">
                <a:solidFill>
                  <a:srgbClr val="FFFFFF"/>
                </a:solidFill>
              </a:rPr>
              <a:t> / etc.)</a:t>
            </a:r>
          </a:p>
        </p:txBody>
      </p:sp>
      <p:sp>
        <p:nvSpPr>
          <p:cNvPr id="100023" name="Step3"/>
          <p:cNvSpPr txBox="1"/>
          <p:nvPr/>
        </p:nvSpPr>
        <p:spPr>
          <a:xfrm>
            <a:off x="4680000" y="1800000"/>
            <a:ext cx="1980000" cy="18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lang="en-US" sz="1400">
                <a:solidFill>
                  <a:srgbClr val="FFFFFF"/>
                </a:solidFill>
              </a:rPr>
              <a:t>Asker shares</a:t>
            </a:r>
          </a:p>
          <a:p>
            <a:pPr algn="ctr"/>
            <a:r>
              <a:rPr lang="en-US" sz="1400">
                <a:solidFill>
                  <a:srgbClr val="FFFFFF"/>
                </a:solidFill>
              </a:rPr>
              <a:t>private link</a:t>
            </a:r>
          </a:p>
        </p:txBody>
      </p:sp>
      <p:sp>
        <p:nvSpPr>
          <p:cNvPr id="100024" name="Step4"/>
          <p:cNvSpPr txBox="1"/>
          <p:nvPr/>
        </p:nvSpPr>
        <p:spPr>
          <a:xfrm>
            <a:off x="6840000" y="1800000"/>
            <a:ext cx="1980000" cy="180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pPr algn="ctr"/>
            <a:r>
              <a:rPr lang="en-US" sz="1400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lang="en-US" sz="1400">
                <a:solidFill>
                  <a:srgbClr val="FFFFFF"/>
                </a:solidFill>
              </a:rPr>
              <a:t>Strangers answer</a:t>
            </a:r>
          </a:p>
          <a:p>
            <a:pPr algn="ctr"/>
            <a:r>
              <a:rPr lang="en-US" sz="1400">
                <a:solidFill>
                  <a:srgbClr val="FFFFFF"/>
                </a:solidFill>
              </a:rPr>
              <a:t>(AI-matched)</a:t>
            </a:r>
          </a:p>
        </p:txBody>
      </p:sp>
      <p:sp>
        <p:nvSpPr>
          <p:cNvPr id="100025" name="Step5"/>
          <p:cNvSpPr txBox="1"/>
          <p:nvPr/>
        </p:nvSpPr>
        <p:spPr>
          <a:xfrm>
            <a:off x="9000000" y="1800000"/>
            <a:ext cx="1980000" cy="1800000"/>
          </a:xfrm>
          <a:prstGeom prst="rect">
            <a:avLst/>
          </a:prstGeom>
          <a:solidFill>
            <a:srgbClr val="0F0F23"/>
          </a:solidFill>
        </p:spPr>
        <p:txBody>
          <a:bodyPr/>
          <a:lstStyle/>
          <a:p>
            <a:pPr algn="ctr"/>
            <a:r>
              <a:rPr lang="en-US" sz="1400" b="1">
                <a:solidFill>
                  <a:srgbClr val="7B8CDE"/>
                </a:solidFill>
              </a:rPr>
              <a:t>5</a:t>
            </a:r>
          </a:p>
          <a:p>
            <a:pPr algn="ctr"/>
            <a:r>
              <a:rPr lang="en-US" sz="1400" b="1">
                <a:solidFill>
                  <a:srgbClr val="7B8CDE"/>
                </a:solidFill>
              </a:rPr>
              <a:t>Claude synthesises</a:t>
            </a:r>
          </a:p>
          <a:p>
            <a:pPr algn="ctr"/>
            <a:r>
              <a:rPr lang="en-US" sz="1400" b="1">
                <a:solidFill>
                  <a:srgbClr val="7B8CDE"/>
                </a:solidFill>
              </a:rPr>
              <a:t>into % perspectives</a:t>
            </a:r>
          </a:p>
        </p:txBody>
      </p:sp>
      <p:sp>
        <p:nvSpPr>
          <p:cNvPr id="100026" name="SynthesisExample"/>
          <p:cNvSpPr txBox="1"/>
          <p:nvPr/>
        </p:nvSpPr>
        <p:spPr>
          <a:xfrm>
            <a:off x="720000" y="3960000"/>
            <a:ext cx="10440000" cy="14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 dirty="0">
                <a:solidFill>
                  <a:srgbClr val="A0A8D0"/>
                </a:solidFill>
              </a:rPr>
              <a:t>Example synthesis output:</a:t>
            </a:r>
          </a:p>
          <a:p>
            <a:r>
              <a:rPr lang="en-US" sz="1500" dirty="0">
                <a:solidFill>
                  <a:srgbClr val="A0A8D0"/>
                </a:solidFill>
              </a:rPr>
              <a:t>"40% · This is a communication issue</a:t>
            </a:r>
          </a:p>
          <a:p>
            <a:r>
              <a:rPr lang="en-US" sz="1500" dirty="0">
                <a:solidFill>
                  <a:srgbClr val="A0A8D0"/>
                </a:solidFill>
              </a:rPr>
              <a:t>35% · This is about unmet expectations</a:t>
            </a:r>
          </a:p>
          <a:p>
            <a:r>
              <a:rPr lang="en-US" sz="1500" dirty="0">
                <a:solidFill>
                  <a:srgbClr val="A0A8D0"/>
                </a:solidFill>
              </a:rPr>
              <a:t>25% · The timing needs to change"</a:t>
            </a:r>
          </a:p>
          <a:p>
            <a:endParaRPr lang="en-US" sz="1500" dirty="0">
              <a:solidFill>
                <a:srgbClr val="A0A8D0"/>
              </a:solidFill>
            </a:endParaRPr>
          </a:p>
          <a:p>
            <a:r>
              <a:rPr lang="en-US" sz="1500" dirty="0">
                <a:solidFill>
                  <a:srgbClr val="A0A8D0"/>
                </a:solidFill>
              </a:rPr>
              <a:t>+ A 2–3 sentence Korean summary in neutral tone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7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05 · IBM BOB INTEGRATION</a:t>
            </a:r>
          </a:p>
        </p:txBody>
      </p:sp>
      <p:sp>
        <p:nvSpPr>
          <p:cNvPr id="100028" name="Title"/>
          <p:cNvSpPr txBox="1"/>
          <p:nvPr/>
        </p:nvSpPr>
        <p:spPr>
          <a:xfrm>
            <a:off x="720000" y="792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A1A2E"/>
                </a:solidFill>
              </a:rPr>
              <a:t>Bob Powers Every Intelligent Layer</a:t>
            </a:r>
          </a:p>
        </p:txBody>
      </p:sp>
      <p:sp>
        <p:nvSpPr>
          <p:cNvPr id="100029" name="Row1"/>
          <p:cNvSpPr txBox="1"/>
          <p:nvPr/>
        </p:nvSpPr>
        <p:spPr>
          <a:xfrm>
            <a:off x="720000" y="1800000"/>
            <a:ext cx="10440000" cy="79200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r>
              <a:rPr lang="en-US" sz="1500" b="0" dirty="0">
                <a:solidFill>
                  <a:srgbClr val="1A1A2E"/>
                </a:solidFill>
              </a:rPr>
              <a:t>Concern Classification</a:t>
            </a:r>
          </a:p>
          <a:p>
            <a:r>
              <a:rPr lang="en-US" sz="1500" b="0" dirty="0" err="1">
                <a:solidFill>
                  <a:srgbClr val="1A1A2E"/>
                </a:solidFill>
              </a:rPr>
              <a:t>claude</a:t>
            </a:r>
            <a:r>
              <a:rPr lang="en-US" sz="1500" b="0" dirty="0">
                <a:solidFill>
                  <a:srgbClr val="1A1A2E"/>
                </a:solidFill>
              </a:rPr>
              <a:t> </a:t>
            </a:r>
            <a:r>
              <a:rPr lang="en-US" sz="1500" b="0" dirty="0" err="1">
                <a:solidFill>
                  <a:srgbClr val="1A1A2E"/>
                </a:solidFill>
              </a:rPr>
              <a:t>classify_concern</a:t>
            </a:r>
            <a:r>
              <a:rPr lang="en-US" sz="1500" b="0" dirty="0">
                <a:solidFill>
                  <a:srgbClr val="1A1A2E"/>
                </a:solidFill>
              </a:rPr>
              <a:t> tool</a:t>
            </a:r>
          </a:p>
          <a:p>
            <a:r>
              <a:rPr lang="en-US" sz="1500" b="0" dirty="0">
                <a:solidFill>
                  <a:srgbClr val="1A1A2E"/>
                </a:solidFill>
              </a:rPr>
              <a:t>→ assigns category label + detects crisis content</a:t>
            </a:r>
          </a:p>
        </p:txBody>
      </p:sp>
      <p:sp>
        <p:nvSpPr>
          <p:cNvPr id="100030" name="Row2"/>
          <p:cNvSpPr txBox="1"/>
          <p:nvPr/>
        </p:nvSpPr>
        <p:spPr>
          <a:xfrm>
            <a:off x="720000" y="2718000"/>
            <a:ext cx="10440000" cy="792000"/>
          </a:xfrm>
          <a:prstGeom prst="rect">
            <a:avLst/>
          </a:prstGeom>
          <a:solidFill>
            <a:srgbClr val="EEF2FF"/>
          </a:solidFill>
        </p:spPr>
        <p:txBody>
          <a:bodyPr/>
          <a:lstStyle/>
          <a:p>
            <a:r>
              <a:rPr lang="en-US" sz="1500" b="0" dirty="0">
                <a:solidFill>
                  <a:srgbClr val="1A1A2E"/>
                </a:solidFill>
              </a:rPr>
              <a:t>Answerer–Concern Matching</a:t>
            </a:r>
          </a:p>
          <a:p>
            <a:r>
              <a:rPr lang="en-US" sz="1500" b="0" dirty="0" err="1">
                <a:solidFill>
                  <a:srgbClr val="1A1A2E"/>
                </a:solidFill>
              </a:rPr>
              <a:t>claude</a:t>
            </a:r>
            <a:r>
              <a:rPr lang="en-US" sz="1500" b="0" dirty="0">
                <a:solidFill>
                  <a:srgbClr val="1A1A2E"/>
                </a:solidFill>
              </a:rPr>
              <a:t> </a:t>
            </a:r>
            <a:r>
              <a:rPr lang="en-US" sz="1500" b="0" dirty="0" err="1">
                <a:solidFill>
                  <a:srgbClr val="1A1A2E"/>
                </a:solidFill>
              </a:rPr>
              <a:t>rank_concerns</a:t>
            </a:r>
            <a:r>
              <a:rPr lang="en-US" sz="1500" b="0" dirty="0">
                <a:solidFill>
                  <a:srgbClr val="1A1A2E"/>
                </a:solidFill>
              </a:rPr>
              <a:t> tool</a:t>
            </a:r>
          </a:p>
          <a:p>
            <a:r>
              <a:rPr lang="en-US" sz="1500" b="0" dirty="0">
                <a:solidFill>
                  <a:srgbClr val="1A1A2E"/>
                </a:solidFill>
              </a:rPr>
              <a:t>→ scores all open concerns against answerer's preference text (0–100)</a:t>
            </a:r>
          </a:p>
        </p:txBody>
      </p:sp>
      <p:sp>
        <p:nvSpPr>
          <p:cNvPr id="100031" name="Row3"/>
          <p:cNvSpPr txBox="1"/>
          <p:nvPr/>
        </p:nvSpPr>
        <p:spPr>
          <a:xfrm>
            <a:off x="720000" y="3600000"/>
            <a:ext cx="10440000" cy="792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1500" b="0" dirty="0">
                <a:solidFill>
                  <a:srgbClr val="FFFFFF"/>
                </a:solidFill>
              </a:rPr>
              <a:t>Perspective Synthesis</a:t>
            </a:r>
          </a:p>
          <a:p>
            <a:r>
              <a:rPr lang="en-US" sz="1500" b="0" dirty="0" err="1">
                <a:solidFill>
                  <a:srgbClr val="FFFFFF"/>
                </a:solidFill>
              </a:rPr>
              <a:t>claude</a:t>
            </a:r>
            <a:r>
              <a:rPr lang="en-US" sz="1500" b="0" dirty="0">
                <a:solidFill>
                  <a:srgbClr val="FFFFFF"/>
                </a:solidFill>
              </a:rPr>
              <a:t> </a:t>
            </a:r>
            <a:r>
              <a:rPr lang="en-US" sz="1500" b="0" dirty="0" err="1">
                <a:solidFill>
                  <a:srgbClr val="FFFFFF"/>
                </a:solidFill>
              </a:rPr>
              <a:t>synthesise_answers</a:t>
            </a:r>
            <a:r>
              <a:rPr lang="en-US" sz="1500" b="0" dirty="0">
                <a:solidFill>
                  <a:srgbClr val="FFFFFF"/>
                </a:solidFill>
              </a:rPr>
              <a:t> tool</a:t>
            </a:r>
          </a:p>
          <a:p>
            <a:r>
              <a:rPr lang="en-US" sz="1500" b="0" dirty="0">
                <a:solidFill>
                  <a:srgbClr val="FFFFFF"/>
                </a:solidFill>
              </a:rPr>
              <a:t>→ groups answers into 2–5 named perspectives with % + example quote + Korean summary</a:t>
            </a:r>
          </a:p>
        </p:txBody>
      </p:sp>
      <p:sp>
        <p:nvSpPr>
          <p:cNvPr id="100032" name="Row4"/>
          <p:cNvSpPr txBox="1"/>
          <p:nvPr/>
        </p:nvSpPr>
        <p:spPr>
          <a:xfrm>
            <a:off x="720000" y="4500000"/>
            <a:ext cx="10440000" cy="792000"/>
          </a:xfrm>
          <a:prstGeom prst="rect">
            <a:avLst/>
          </a:prstGeom>
          <a:solidFill>
            <a:srgbClr val="FEF3C7"/>
          </a:solidFill>
        </p:spPr>
        <p:txBody>
          <a:bodyPr/>
          <a:lstStyle/>
          <a:p>
            <a:r>
              <a:rPr lang="en-US" sz="1500" b="0" dirty="0">
                <a:solidFill>
                  <a:srgbClr val="1A1A2E"/>
                </a:solidFill>
              </a:rPr>
              <a:t>Safety Gate</a:t>
            </a:r>
          </a:p>
          <a:p>
            <a:r>
              <a:rPr lang="en-US" sz="1500" b="0" dirty="0">
                <a:solidFill>
                  <a:srgbClr val="1A1A2E"/>
                </a:solidFill>
              </a:rPr>
              <a:t>Crisis detection inside </a:t>
            </a:r>
            <a:r>
              <a:rPr lang="en-US" sz="1500" b="0" dirty="0" err="1">
                <a:solidFill>
                  <a:srgbClr val="1A1A2E"/>
                </a:solidFill>
              </a:rPr>
              <a:t>classify_concern</a:t>
            </a:r>
            <a:endParaRPr lang="en-US" sz="1500" b="0" dirty="0">
              <a:solidFill>
                <a:srgbClr val="1A1A2E"/>
              </a:solidFill>
            </a:endParaRPr>
          </a:p>
          <a:p>
            <a:r>
              <a:rPr lang="en-US" sz="1500" b="0" dirty="0">
                <a:solidFill>
                  <a:srgbClr val="1A1A2E"/>
                </a:solidFill>
              </a:rPr>
              <a:t>→ redirects to professional resources (988 Lifeline / Crisis Text Line) — no data saved</a:t>
            </a:r>
          </a:p>
        </p:txBody>
      </p:sp>
      <p:sp>
        <p:nvSpPr>
          <p:cNvPr id="100033" name="Note"/>
          <p:cNvSpPr txBox="1"/>
          <p:nvPr/>
        </p:nvSpPr>
        <p:spPr>
          <a:xfrm>
            <a:off x="720000" y="5472000"/>
            <a:ext cx="1044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 dirty="0">
                <a:solidFill>
                  <a:srgbClr val="7B8CDE"/>
                </a:solidFill>
              </a:rPr>
              <a:t>All three AI endpoints use forced </a:t>
            </a:r>
            <a:r>
              <a:rPr lang="en-US" sz="1300" b="1" dirty="0" err="1">
                <a:solidFill>
                  <a:srgbClr val="7B8CDE"/>
                </a:solidFill>
              </a:rPr>
              <a:t>tool_choice</a:t>
            </a:r>
            <a:r>
              <a:rPr lang="en-US" sz="1300" b="1" dirty="0">
                <a:solidFill>
                  <a:srgbClr val="7B8CDE"/>
                </a:solidFill>
              </a:rPr>
              <a:t> — guaranteeing typed, structured JSON output at every decision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4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06 · TRANSFORMATION STORY</a:t>
            </a:r>
          </a:p>
        </p:txBody>
      </p:sp>
      <p:sp>
        <p:nvSpPr>
          <p:cNvPr id="100035" name="Title"/>
          <p:cNvSpPr txBox="1"/>
          <p:nvPr/>
        </p:nvSpPr>
        <p:spPr>
          <a:xfrm>
            <a:off x="720000" y="792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</a:rPr>
              <a:t>Before → After</a:t>
            </a:r>
          </a:p>
        </p:txBody>
      </p:sp>
      <p:sp>
        <p:nvSpPr>
          <p:cNvPr id="100036" name="BeforeHeader"/>
          <p:cNvSpPr txBox="1"/>
          <p:nvPr/>
        </p:nvSpPr>
        <p:spPr>
          <a:xfrm>
            <a:off x="720000" y="1800000"/>
            <a:ext cx="486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 b="1">
                <a:solidFill>
                  <a:srgbClr val="9CA3AF"/>
                </a:solidFill>
              </a:rPr>
              <a:t>ORIGINAL GOGO</a:t>
            </a:r>
          </a:p>
        </p:txBody>
      </p:sp>
      <p:sp>
        <p:nvSpPr>
          <p:cNvPr id="100037" name="BeforeBody"/>
          <p:cNvSpPr txBox="1"/>
          <p:nvPr/>
        </p:nvSpPr>
        <p:spPr>
          <a:xfrm>
            <a:off x="720000" y="2232000"/>
            <a:ext cx="4860000" cy="2520000"/>
          </a:xfrm>
          <a:prstGeom prst="rect">
            <a:avLst/>
          </a:prstGeom>
          <a:solidFill>
            <a:srgbClr val="16213E"/>
          </a:solidFill>
        </p:spPr>
        <p:txBody>
          <a:bodyPr/>
          <a:lstStyle/>
          <a:p>
            <a:r>
              <a:rPr lang="en-US" sz="1500" dirty="0">
                <a:solidFill>
                  <a:srgbClr val="9CA3AF"/>
                </a:solidFill>
              </a:rPr>
              <a:t>Contact recommender</a:t>
            </a:r>
          </a:p>
          <a:p>
            <a:r>
              <a:rPr lang="en-US" sz="1500" dirty="0">
                <a:solidFill>
                  <a:srgbClr val="9CA3AF"/>
                </a:solidFill>
              </a:rPr>
              <a:t>Kakao social graph required</a:t>
            </a:r>
          </a:p>
          <a:p>
            <a:r>
              <a:rPr lang="en-US" sz="1500" dirty="0">
                <a:solidFill>
                  <a:srgbClr val="9CA3AF"/>
                </a:solidFill>
              </a:rPr>
              <a:t>AI recommends a person</a:t>
            </a:r>
          </a:p>
          <a:p>
            <a:r>
              <a:rPr lang="en-US" sz="1500" dirty="0">
                <a:solidFill>
                  <a:srgbClr val="9CA3AF"/>
                </a:solidFill>
              </a:rPr>
              <a:t>Private 1:1 interaction</a:t>
            </a:r>
          </a:p>
          <a:p>
            <a:r>
              <a:rPr lang="en-US" sz="1500" dirty="0">
                <a:solidFill>
                  <a:srgbClr val="9CA3AF"/>
                </a:solidFill>
              </a:rPr>
              <a:t>Personality quiz onboarding</a:t>
            </a:r>
          </a:p>
          <a:p>
            <a:r>
              <a:rPr lang="en-US" sz="1500" dirty="0">
                <a:solidFill>
                  <a:srgbClr val="9CA3AF"/>
                </a:solidFill>
              </a:rPr>
              <a:t>Kakao SDK · Invite tokens · RLS by user</a:t>
            </a:r>
          </a:p>
        </p:txBody>
      </p:sp>
      <p:sp>
        <p:nvSpPr>
          <p:cNvPr id="100038" name="Arrow"/>
          <p:cNvSpPr txBox="1"/>
          <p:nvPr/>
        </p:nvSpPr>
        <p:spPr>
          <a:xfrm>
            <a:off x="5760000" y="3240000"/>
            <a:ext cx="720000" cy="72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3200" b="1" dirty="0">
                <a:solidFill>
                  <a:srgbClr val="7B8CDE"/>
                </a:solidFill>
              </a:rPr>
              <a:t>→</a:t>
            </a:r>
          </a:p>
        </p:txBody>
      </p:sp>
      <p:sp>
        <p:nvSpPr>
          <p:cNvPr id="100039" name="AfterHeader"/>
          <p:cNvSpPr txBox="1"/>
          <p:nvPr/>
        </p:nvSpPr>
        <p:spPr>
          <a:xfrm>
            <a:off x="6660000" y="1800000"/>
            <a:ext cx="486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 b="1">
                <a:solidFill>
                  <a:srgbClr val="7B8CDE"/>
                </a:solidFill>
              </a:rPr>
              <a:t>RENEWED GOGO</a:t>
            </a:r>
          </a:p>
        </p:txBody>
      </p:sp>
      <p:sp>
        <p:nvSpPr>
          <p:cNvPr id="100040" name="AfterBody"/>
          <p:cNvSpPr txBox="1"/>
          <p:nvPr/>
        </p:nvSpPr>
        <p:spPr>
          <a:xfrm>
            <a:off x="6660000" y="2232000"/>
            <a:ext cx="4860000" cy="2520000"/>
          </a:xfrm>
          <a:prstGeom prst="rect">
            <a:avLst/>
          </a:prstGeom>
          <a:solidFill>
            <a:srgbClr val="0F3460"/>
          </a:solidFill>
        </p:spPr>
        <p:txBody>
          <a:bodyPr/>
          <a:lstStyle/>
          <a:p>
            <a:r>
              <a:rPr lang="en-US" sz="1500" dirty="0">
                <a:solidFill>
                  <a:srgbClr val="FFFFFF"/>
                </a:solidFill>
              </a:rPr>
              <a:t>Anonymous concern platform</a:t>
            </a:r>
          </a:p>
          <a:p>
            <a:r>
              <a:rPr lang="en-US" sz="1500" dirty="0">
                <a:solidFill>
                  <a:srgbClr val="FFFFFF"/>
                </a:solidFill>
              </a:rPr>
              <a:t>Zero account for answerers</a:t>
            </a:r>
          </a:p>
          <a:p>
            <a:r>
              <a:rPr lang="en-US" sz="1500" dirty="0">
                <a:solidFill>
                  <a:srgbClr val="FFFFFF"/>
                </a:solidFill>
              </a:rPr>
              <a:t>AI </a:t>
            </a:r>
            <a:r>
              <a:rPr lang="en-US" sz="1500" dirty="0" err="1">
                <a:solidFill>
                  <a:srgbClr val="FFFFFF"/>
                </a:solidFill>
              </a:rPr>
              <a:t>synthesises</a:t>
            </a:r>
            <a:r>
              <a:rPr lang="en-US" sz="1500" dirty="0">
                <a:solidFill>
                  <a:srgbClr val="FFFFFF"/>
                </a:solidFill>
              </a:rPr>
              <a:t> perspectives</a:t>
            </a:r>
          </a:p>
          <a:p>
            <a:r>
              <a:rPr lang="en-US" sz="1500" dirty="0">
                <a:solidFill>
                  <a:srgbClr val="FFFFFF"/>
                </a:solidFill>
              </a:rPr>
              <a:t>Public collective wisdom</a:t>
            </a:r>
          </a:p>
          <a:p>
            <a:r>
              <a:rPr lang="en-US" sz="1500" dirty="0">
                <a:solidFill>
                  <a:srgbClr val="FFFFFF"/>
                </a:solidFill>
              </a:rPr>
              <a:t>Free-text concern input</a:t>
            </a:r>
          </a:p>
          <a:p>
            <a:r>
              <a:rPr lang="en-US" sz="1500" dirty="0">
                <a:solidFill>
                  <a:srgbClr val="FFFFFF"/>
                </a:solidFill>
              </a:rPr>
              <a:t>Web Share API · </a:t>
            </a:r>
            <a:r>
              <a:rPr lang="en-US" sz="1500" dirty="0" err="1">
                <a:solidFill>
                  <a:srgbClr val="FFFFFF"/>
                </a:solidFill>
              </a:rPr>
              <a:t>Supabase</a:t>
            </a:r>
            <a:r>
              <a:rPr lang="en-US" sz="1500" dirty="0">
                <a:solidFill>
                  <a:srgbClr val="FFFFFF"/>
                </a:solidFill>
              </a:rPr>
              <a:t> anon auth</a:t>
            </a:r>
          </a:p>
        </p:txBody>
      </p:sp>
      <p:sp>
        <p:nvSpPr>
          <p:cNvPr id="100041" name="Retained"/>
          <p:cNvSpPr txBox="1"/>
          <p:nvPr/>
        </p:nvSpPr>
        <p:spPr>
          <a:xfrm>
            <a:off x="720000" y="5040000"/>
            <a:ext cx="10440000" cy="36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300">
                <a:solidFill>
                  <a:srgbClr val="6B7280"/>
                </a:solidFill>
              </a:rPr>
              <a:t>Retained: Next.js infrastructure · Supabase · Anthropic SDK integration pattern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2" name="Label"/>
          <p:cNvSpPr txBox="1"/>
          <p:nvPr/>
        </p:nvSpPr>
        <p:spPr>
          <a:xfrm>
            <a:off x="720000" y="432000"/>
            <a:ext cx="540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7B8CDE"/>
                </a:solidFill>
              </a:rPr>
              <a:t>07 · FUTURE ROADMAP</a:t>
            </a:r>
          </a:p>
        </p:txBody>
      </p:sp>
      <p:sp>
        <p:nvSpPr>
          <p:cNvPr id="100043" name="Title"/>
          <p:cNvSpPr txBox="1"/>
          <p:nvPr/>
        </p:nvSpPr>
        <p:spPr>
          <a:xfrm>
            <a:off x="720000" y="792000"/>
            <a:ext cx="1044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400" b="1">
                <a:solidFill>
                  <a:srgbClr val="1A1A2E"/>
                </a:solidFill>
              </a:rPr>
              <a:t>Key Learnings &amp; Next Steps</a:t>
            </a:r>
          </a:p>
        </p:txBody>
      </p:sp>
      <p:sp>
        <p:nvSpPr>
          <p:cNvPr id="100044" name="Learnings"/>
          <p:cNvSpPr txBox="1"/>
          <p:nvPr/>
        </p:nvSpPr>
        <p:spPr>
          <a:xfrm>
            <a:off x="720000" y="1728000"/>
            <a:ext cx="4860000" cy="3600000"/>
          </a:xfrm>
          <a:prstGeom prst="rect">
            <a:avLst/>
          </a:prstGeom>
          <a:solidFill>
            <a:srgbClr val="F3F4F6"/>
          </a:solidFill>
        </p:spPr>
        <p:txBody>
          <a:bodyPr/>
          <a:lstStyle/>
          <a:p>
            <a:r>
              <a:rPr lang="en-US" sz="1500" dirty="0">
                <a:solidFill>
                  <a:srgbClr val="1A1A2E"/>
                </a:solidFill>
              </a:rPr>
              <a:t>KEY LEARNINGS</a:t>
            </a:r>
          </a:p>
          <a:p>
            <a:endParaRPr lang="en-US" sz="1500" dirty="0">
              <a:solidFill>
                <a:srgbClr val="1A1A2E"/>
              </a:solidFill>
            </a:endParaRPr>
          </a:p>
          <a:p>
            <a:r>
              <a:rPr lang="en-US" sz="1500" dirty="0">
                <a:solidFill>
                  <a:srgbClr val="1A1A2E"/>
                </a:solidFill>
              </a:rPr>
              <a:t>· Answerers engage with real depth when concerns are specific and relatable — matching quality is everything</a:t>
            </a:r>
          </a:p>
          <a:p>
            <a:r>
              <a:rPr lang="en-US" sz="1500" dirty="0">
                <a:solidFill>
                  <a:srgbClr val="1A1A2E"/>
                </a:solidFill>
              </a:rPr>
              <a:t>· The light profile (age / occupation / MBTI) adds perceived credibility to synthesis, even when optional</a:t>
            </a:r>
          </a:p>
          <a:p>
            <a:r>
              <a:rPr lang="en-US" sz="1500" dirty="0">
                <a:solidFill>
                  <a:srgbClr val="1A1A2E"/>
                </a:solidFill>
              </a:rPr>
              <a:t>· The 3-answer gate creates good tension — but needs a progress indicator in UX</a:t>
            </a:r>
          </a:p>
        </p:txBody>
      </p:sp>
      <p:sp>
        <p:nvSpPr>
          <p:cNvPr id="100045" name="Roadmap"/>
          <p:cNvSpPr txBox="1"/>
          <p:nvPr/>
        </p:nvSpPr>
        <p:spPr>
          <a:xfrm>
            <a:off x="6254112" y="1764000"/>
            <a:ext cx="5040000" cy="36000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r>
              <a:rPr lang="en-US" sz="1500" dirty="0">
                <a:solidFill>
                  <a:srgbClr val="FFFFFF"/>
                </a:solidFill>
              </a:rPr>
              <a:t>NEXT STEPS</a:t>
            </a:r>
          </a:p>
          <a:p>
            <a:endParaRPr lang="en-US" sz="1500" dirty="0">
              <a:solidFill>
                <a:srgbClr val="FFFFFF"/>
              </a:solidFill>
            </a:endParaRPr>
          </a:p>
          <a:p>
            <a:r>
              <a:rPr lang="en-US" sz="1500" dirty="0">
                <a:solidFill>
                  <a:srgbClr val="FFFFFF"/>
                </a:solidFill>
              </a:rPr>
              <a:t>🔴  Real-time answer count (</a:t>
            </a:r>
            <a:r>
              <a:rPr lang="en-US" sz="1500" dirty="0" err="1">
                <a:solidFill>
                  <a:srgbClr val="FFFFFF"/>
                </a:solidFill>
              </a:rPr>
              <a:t>Supabase</a:t>
            </a:r>
            <a:r>
              <a:rPr lang="en-US" sz="1500" dirty="0">
                <a:solidFill>
                  <a:srgbClr val="FFFFFF"/>
                </a:solidFill>
              </a:rPr>
              <a:t> Realtime)</a:t>
            </a:r>
          </a:p>
          <a:p>
            <a:r>
              <a:rPr lang="en-US" sz="1500" dirty="0">
                <a:solidFill>
                  <a:srgbClr val="FFFFFF"/>
                </a:solidFill>
              </a:rPr>
              <a:t>🔴  Push / email when synthesis is ready</a:t>
            </a:r>
          </a:p>
          <a:p>
            <a:r>
              <a:rPr lang="en-US" sz="1500" dirty="0">
                <a:solidFill>
                  <a:srgbClr val="FFFFFF"/>
                </a:solidFill>
              </a:rPr>
              <a:t>🟡  Asker closes concern with resolution note</a:t>
            </a:r>
          </a:p>
          <a:p>
            <a:r>
              <a:rPr lang="en-US" sz="1500" dirty="0">
                <a:solidFill>
                  <a:srgbClr val="FFFFFF"/>
                </a:solidFill>
              </a:rPr>
              <a:t>🟡  Answerer karma / helpful votes (anonymous)</a:t>
            </a:r>
          </a:p>
          <a:p>
            <a:r>
              <a:rPr lang="en-US" sz="1500" dirty="0">
                <a:solidFill>
                  <a:srgbClr val="FFFFFF"/>
                </a:solidFill>
              </a:rPr>
              <a:t>🟢  Public feed of closed concerns + syntheses</a:t>
            </a:r>
          </a:p>
          <a:p>
            <a:r>
              <a:rPr lang="en-US" sz="1500" dirty="0">
                <a:solidFill>
                  <a:srgbClr val="FFFFFF"/>
                </a:solidFill>
              </a:rPr>
              <a:t>🟢  Longitudinal EQ self-assessment for repeat users</a:t>
            </a:r>
          </a:p>
        </p:txBody>
      </p:sp>
      <p:sp>
        <p:nvSpPr>
          <p:cNvPr id="100046" name="OpenQ"/>
          <p:cNvSpPr txBox="1"/>
          <p:nvPr/>
        </p:nvSpPr>
        <p:spPr>
          <a:xfrm>
            <a:off x="720000" y="5580000"/>
            <a:ext cx="104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7B8CDE"/>
                </a:solidFill>
              </a:rPr>
              <a:t>Open question: cold-start problem → seeded concerns + category-filtered answerer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7" name="Title"/>
          <p:cNvSpPr txBox="1"/>
          <p:nvPr/>
        </p:nvSpPr>
        <p:spPr>
          <a:xfrm>
            <a:off x="1080000" y="1800000"/>
            <a:ext cx="9720000" cy="108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5200" b="1">
                <a:solidFill>
                  <a:srgbClr val="FFFFFF"/>
                </a:solidFill>
              </a:rPr>
              <a:t>고고 (Gogo)</a:t>
            </a:r>
          </a:p>
        </p:txBody>
      </p:sp>
      <p:sp>
        <p:nvSpPr>
          <p:cNvPr id="100048" name="Tagline"/>
          <p:cNvSpPr txBox="1"/>
          <p:nvPr/>
        </p:nvSpPr>
        <p:spPr>
          <a:xfrm>
            <a:off x="1080000" y="3060000"/>
            <a:ext cx="9720000" cy="648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2000">
                <a:solidFill>
                  <a:srgbClr val="A0A8D0"/>
                </a:solidFill>
              </a:rPr>
              <a:t>Your concern, heard by strangers. Understood by AI.</a:t>
            </a:r>
          </a:p>
        </p:txBody>
      </p:sp>
      <p:sp>
        <p:nvSpPr>
          <p:cNvPr id="100049" name="Thanks"/>
          <p:cNvSpPr txBox="1"/>
          <p:nvPr/>
        </p:nvSpPr>
        <p:spPr>
          <a:xfrm>
            <a:off x="1080000" y="3960000"/>
            <a:ext cx="9720000" cy="540000"/>
          </a:xfrm>
          <a:prstGeom prst="rect">
            <a:avLst/>
          </a:prstGeom>
          <a:noFill/>
        </p:spPr>
        <p:txBody>
          <a:bodyPr/>
          <a:lstStyle/>
          <a:p>
            <a:pPr algn="ctr"/>
            <a:r>
              <a:rPr lang="en-US" sz="1600">
                <a:solidFill>
                  <a:srgbClr val="6B728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Microsoft Macintosh PowerPoint</Application>
  <PresentationFormat>Widescreen</PresentationFormat>
  <Paragraphs>123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Yehwan Lee</cp:lastModifiedBy>
  <cp:revision>1</cp:revision>
  <dcterms:created xsi:type="dcterms:W3CDTF">2026-10-18T18:38:15Z</dcterms:created>
  <dcterms:modified xsi:type="dcterms:W3CDTF">2026-10-18T19:59:02Z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1.0.144</vt:lpwstr>
  </property>
  <property fmtid="{D5CDD505-2E9C-101B-9397-08002B2CF9AE}" pid="3" name="OfficeCLI.LastModified">
    <vt:lpwstr>2026-10-18T18:38:17Z</vt:lpwstr>
  </property>
</Properties>
</file>